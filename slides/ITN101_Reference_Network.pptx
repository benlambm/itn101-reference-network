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600" kern="0" dirty="0">
                <a:solidFill>
                  <a:srgbClr val="14A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ITN 101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Network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3-Tier Architecture  |  HSRP Redundancy  |  Wireless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Brightpoint Community College  |  BET Division  |  Spring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3-Tier Lab Rack Topology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37160" y="960120"/>
            <a:ext cx="502920" cy="12801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 rot="16200000">
            <a:off x="137160" y="960120"/>
            <a:ext cx="502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37160" y="2423160"/>
            <a:ext cx="502920" cy="640080"/>
          </a:xfrm>
          <a:prstGeom prst="rect">
            <a:avLst/>
          </a:prstGeom>
          <a:solidFill>
            <a:srgbClr val="0D7377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 rot="16200000">
            <a:off x="137160" y="242316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37160" y="3246120"/>
            <a:ext cx="502920" cy="118872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 rot="16200000">
            <a:off x="137160" y="324612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0" y="777240"/>
            <a:ext cx="1463040" cy="502920"/>
          </a:xfrm>
          <a:prstGeom prst="ellipse">
            <a:avLst/>
          </a:prstGeom>
          <a:solidFill>
            <a:srgbClr val="8FA3B8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3240" y="795528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560320" y="1005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291840" y="1280160"/>
            <a:ext cx="0" cy="182880"/>
          </a:xfrm>
          <a:prstGeom prst="line">
            <a:avLst/>
          </a:prstGeom>
          <a:noFill/>
          <a:ln w="25400">
            <a:solidFill>
              <a:srgbClr val="8FA3B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14400" y="1463040"/>
            <a:ext cx="3200400" cy="5943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572768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53312" y="148132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R1 - ISR 4221</a:t>
            </a:r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Core | HSRP Active VL10/40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029200" y="1463040"/>
            <a:ext cx="3200400" cy="5943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352" y="1572768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468112" y="148132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R2 - ISR 4221</a:t>
            </a:r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Core | HSRP Active VL20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160520" y="1417320"/>
            <a:ext cx="822960" cy="4114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1" name="Text 16"/>
          <p:cNvSpPr/>
          <p:nvPr/>
        </p:nvSpPr>
        <p:spPr>
          <a:xfrm>
            <a:off x="4160520" y="14173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HSRP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2514600" y="2057400"/>
            <a:ext cx="2057400" cy="41148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629400" y="2057400"/>
            <a:ext cx="-2057400" cy="41148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1371600" y="2468880"/>
            <a:ext cx="6400800" cy="548640"/>
          </a:xfrm>
          <a:prstGeom prst="rect">
            <a:avLst/>
          </a:prstGeom>
          <a:solidFill>
            <a:srgbClr val="0D7377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" y="2560320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828800" y="25146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SW-DIST — Catalyst 1000</a:t>
            </a:r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Distribution Layer (L2 Backbone)  |  VLANs 10, 20, 40, 99 trunked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3200400" y="3017520"/>
            <a:ext cx="0" cy="27432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2788920" y="30632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trunk</a:t>
            </a:r>
            <a:endParaRPr lang="en-US" sz="700" dirty="0"/>
          </a:p>
        </p:txBody>
      </p:sp>
      <p:sp>
        <p:nvSpPr>
          <p:cNvPr id="29" name="Shape 23"/>
          <p:cNvSpPr/>
          <p:nvPr/>
        </p:nvSpPr>
        <p:spPr>
          <a:xfrm>
            <a:off x="5486400" y="3017520"/>
            <a:ext cx="0" cy="411480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937760" y="3429000"/>
            <a:ext cx="1280160" cy="685800"/>
          </a:xfrm>
          <a:prstGeom prst="rect">
            <a:avLst/>
          </a:prstGeom>
          <a:solidFill>
            <a:srgbClr val="EC489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3474720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937760" y="37033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WAP-1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 40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914400" y="3291840"/>
            <a:ext cx="3657600" cy="54864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3383280"/>
            <a:ext cx="320040" cy="32004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1371600" y="3337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SW-ACC — Cat 2960</a:t>
            </a:r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Access Layer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1005840" y="4069080"/>
            <a:ext cx="685800" cy="59436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8720" y="4087368"/>
            <a:ext cx="228600" cy="22860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005840" y="432511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PC-A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VL10</a:t>
            </a:r>
            <a:endParaRPr lang="en-US" sz="700" dirty="0"/>
          </a:p>
        </p:txBody>
      </p:sp>
      <p:sp>
        <p:nvSpPr>
          <p:cNvPr id="39" name="Shape 30"/>
          <p:cNvSpPr/>
          <p:nvPr/>
        </p:nvSpPr>
        <p:spPr>
          <a:xfrm>
            <a:off x="1348740" y="3840480"/>
            <a:ext cx="0" cy="22860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1828800" y="4069080"/>
            <a:ext cx="685800" cy="59436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11680" y="4087368"/>
            <a:ext cx="228600" cy="22860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1828800" y="432511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PC-B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VL10</a:t>
            </a:r>
            <a:endParaRPr lang="en-US" sz="700" dirty="0"/>
          </a:p>
        </p:txBody>
      </p:sp>
      <p:sp>
        <p:nvSpPr>
          <p:cNvPr id="43" name="Shape 33"/>
          <p:cNvSpPr/>
          <p:nvPr/>
        </p:nvSpPr>
        <p:spPr>
          <a:xfrm>
            <a:off x="2171700" y="3840480"/>
            <a:ext cx="0" cy="22860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2651760" y="4069080"/>
            <a:ext cx="685800" cy="59436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34640" y="4087368"/>
            <a:ext cx="228600" cy="228600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2651760" y="432511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PC-C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VL20</a:t>
            </a:r>
            <a:endParaRPr lang="en-US" sz="700" dirty="0"/>
          </a:p>
        </p:txBody>
      </p:sp>
      <p:sp>
        <p:nvSpPr>
          <p:cNvPr id="47" name="Shape 36"/>
          <p:cNvSpPr/>
          <p:nvPr/>
        </p:nvSpPr>
        <p:spPr>
          <a:xfrm>
            <a:off x="2994660" y="3840480"/>
            <a:ext cx="0" cy="22860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48" name="Shape 37"/>
          <p:cNvSpPr/>
          <p:nvPr/>
        </p:nvSpPr>
        <p:spPr>
          <a:xfrm>
            <a:off x="3474720" y="4069080"/>
            <a:ext cx="685800" cy="59436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4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7600" y="4087368"/>
            <a:ext cx="228600" cy="228600"/>
          </a:xfrm>
          <a:prstGeom prst="rect">
            <a:avLst/>
          </a:prstGeom>
        </p:spPr>
      </p:pic>
      <p:sp>
        <p:nvSpPr>
          <p:cNvPr id="50" name="Text 38"/>
          <p:cNvSpPr/>
          <p:nvPr/>
        </p:nvSpPr>
        <p:spPr>
          <a:xfrm>
            <a:off x="3474720" y="432511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SRV-1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VL30</a:t>
            </a:r>
            <a:endParaRPr lang="en-US" sz="700" dirty="0"/>
          </a:p>
        </p:txBody>
      </p:sp>
      <p:sp>
        <p:nvSpPr>
          <p:cNvPr id="51" name="Shape 39"/>
          <p:cNvSpPr/>
          <p:nvPr/>
        </p:nvSpPr>
        <p:spPr>
          <a:xfrm>
            <a:off x="3817620" y="3840480"/>
            <a:ext cx="0" cy="22860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52" name="Shape 40"/>
          <p:cNvSpPr/>
          <p:nvPr/>
        </p:nvSpPr>
        <p:spPr>
          <a:xfrm>
            <a:off x="7772400" y="2057400"/>
            <a:ext cx="0" cy="1234440"/>
          </a:xfrm>
          <a:prstGeom prst="line">
            <a:avLst/>
          </a:prstGeom>
          <a:noFill/>
          <a:ln w="31750">
            <a:solidFill>
              <a:srgbClr val="F4A261"/>
            </a:solidFill>
            <a:prstDash val="dash"/>
          </a:ln>
        </p:spPr>
      </p:sp>
      <p:sp>
        <p:nvSpPr>
          <p:cNvPr id="53" name="Text 41"/>
          <p:cNvSpPr/>
          <p:nvPr/>
        </p:nvSpPr>
        <p:spPr>
          <a:xfrm>
            <a:off x="7863840" y="2286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8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E88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10.0.1.0/30</a:t>
            </a:r>
            <a:endParaRPr lang="en-US" sz="800" dirty="0"/>
          </a:p>
        </p:txBody>
      </p:sp>
      <p:sp>
        <p:nvSpPr>
          <p:cNvPr id="54" name="Shape 42"/>
          <p:cNvSpPr/>
          <p:nvPr/>
        </p:nvSpPr>
        <p:spPr>
          <a:xfrm>
            <a:off x="6858000" y="3291840"/>
            <a:ext cx="2103120" cy="59436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5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31152" y="3401568"/>
            <a:ext cx="320040" cy="320040"/>
          </a:xfrm>
          <a:prstGeom prst="rect">
            <a:avLst/>
          </a:prstGeom>
        </p:spPr>
      </p:pic>
      <p:sp>
        <p:nvSpPr>
          <p:cNvPr id="56" name="Text 43"/>
          <p:cNvSpPr/>
          <p:nvPr/>
        </p:nvSpPr>
        <p:spPr>
          <a:xfrm>
            <a:off x="7296912" y="331012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R3 - ISR 1941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| Serial labs</a:t>
            </a:r>
            <a:endParaRPr lang="en-US" sz="1000" dirty="0"/>
          </a:p>
        </p:txBody>
      </p:sp>
      <p:sp>
        <p:nvSpPr>
          <p:cNvPr id="57" name="Text 44"/>
          <p:cNvSpPr/>
          <p:nvPr/>
        </p:nvSpPr>
        <p:spPr>
          <a:xfrm>
            <a:off x="7315200" y="39319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</a:t>
            </a:r>
            <a:endParaRPr lang="en-US" sz="800" dirty="0"/>
          </a:p>
        </p:txBody>
      </p:sp>
      <p:sp>
        <p:nvSpPr>
          <p:cNvPr id="58" name="Shape 45"/>
          <p:cNvSpPr/>
          <p:nvPr/>
        </p:nvSpPr>
        <p:spPr>
          <a:xfrm>
            <a:off x="137160" y="4617720"/>
            <a:ext cx="50292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9" name="Text 46"/>
          <p:cNvSpPr/>
          <p:nvPr/>
        </p:nvSpPr>
        <p:spPr>
          <a:xfrm>
            <a:off x="228600" y="4663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Legend: </a:t>
            </a:r>
            <a:pPr indent="0" marL="0">
              <a:buNone/>
            </a:pPr>
            <a:r>
              <a:rPr lang="en-US" sz="800" b="1" dirty="0">
                <a:solidFill>
                  <a:srgbClr val="E88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--- WAN  </a:t>
            </a:r>
            <a:pPr indent="0" marL="0">
              <a:buNone/>
            </a:pPr>
            <a:r>
              <a:rPr lang="en-US" sz="8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Trunk  </a:t>
            </a:r>
            <a:pPr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VL10  </a:t>
            </a:r>
            <a:pPr indent="0" marL="0">
              <a:buNone/>
            </a:pPr>
            <a:r>
              <a:rPr lang="en-US" sz="8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VL20  </a:t>
            </a:r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VL30  </a:t>
            </a:r>
            <a:pPr indent="0" marL="0">
              <a:buNone/>
            </a:pPr>
            <a:r>
              <a:rPr lang="en-US" sz="80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VL40  </a:t>
            </a:r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● HSRP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HSRP Redundancy &amp; Load Balancing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routers carry traffic. </a:t>
            </a:r>
            <a:pPr indent="0" marL="0">
              <a:buNone/>
            </a:pPr>
            <a:r>
              <a:rPr lang="en-US" sz="1400" i="1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sits idle.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6974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269748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544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 10 — Students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192.168.10.0/24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2514600" cy="411480"/>
          </a:xfrm>
          <a:prstGeom prst="rect">
            <a:avLst/>
          </a:prstGeom>
          <a:solidFill>
            <a:srgbClr val="F0F5F7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26771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GW: 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.1 (Virtual GW)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2514600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8346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.2 / Active (110)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2514600" cy="50292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4290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.3 / Standby (100)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1371600"/>
            <a:ext cx="26974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371600"/>
            <a:ext cx="269748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15544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 20 — Faculty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83280" y="18288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192.168.20.0/24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337560" y="2240280"/>
            <a:ext cx="2514600" cy="411480"/>
          </a:xfrm>
          <a:prstGeom prst="rect">
            <a:avLst/>
          </a:prstGeom>
          <a:solidFill>
            <a:srgbClr val="F0F5F7"/>
          </a:solidFill>
          <a:ln/>
        </p:spPr>
      </p:sp>
      <p:sp>
        <p:nvSpPr>
          <p:cNvPr id="20" name="Text 18"/>
          <p:cNvSpPr/>
          <p:nvPr/>
        </p:nvSpPr>
        <p:spPr>
          <a:xfrm>
            <a:off x="3383280" y="226771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GW: 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.1 (Virtual GW)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37560" y="2788920"/>
            <a:ext cx="2514600" cy="50292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28346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.3 / Standby (100)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37560" y="3383280"/>
            <a:ext cx="2514600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22"/>
          <p:cNvSpPr/>
          <p:nvPr/>
        </p:nvSpPr>
        <p:spPr>
          <a:xfrm>
            <a:off x="3429000" y="34290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.2 / Active (110)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1371600"/>
            <a:ext cx="26974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1371600"/>
            <a:ext cx="2697480" cy="7315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15544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 40 — Wireless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63640" y="18288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192.168.40.0/24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217920" y="2240280"/>
            <a:ext cx="2514600" cy="411480"/>
          </a:xfrm>
          <a:prstGeom prst="rect">
            <a:avLst/>
          </a:prstGeom>
          <a:solidFill>
            <a:srgbClr val="F0F5F7"/>
          </a:solidFill>
          <a:ln/>
        </p:spPr>
      </p:sp>
      <p:sp>
        <p:nvSpPr>
          <p:cNvPr id="30" name="Text 28"/>
          <p:cNvSpPr/>
          <p:nvPr/>
        </p:nvSpPr>
        <p:spPr>
          <a:xfrm>
            <a:off x="6263640" y="226771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GW: 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.1 (Virtual GW)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2788920"/>
            <a:ext cx="2514600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28346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.2 / Active (110)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17920" y="3383280"/>
            <a:ext cx="2514600" cy="50292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34" name="Text 32"/>
          <p:cNvSpPr/>
          <p:nvPr/>
        </p:nvSpPr>
        <p:spPr>
          <a:xfrm>
            <a:off x="6309360" y="34290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.3 / Standby (100)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4480560"/>
            <a:ext cx="84124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" y="4480560"/>
            <a:ext cx="73152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45262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Hosts always use .1 (virtual IP). </a:t>
            </a:r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active router fails, the standby promotes within ~3 seconds. Preemption restores the original active when it recovers.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Addressing at a Glance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0116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0116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VL10 — Students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192.168.10.0/24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GW (HSRP): .1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R1: .2 | R2: .3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914400"/>
            <a:ext cx="20116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914400"/>
            <a:ext cx="20116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1051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VL20 — Faculty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60320" y="1298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192.168.20.0/24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60320" y="1691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GW (HSRP): .1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R2: .2 | R1: .3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914400"/>
            <a:ext cx="20116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914400"/>
            <a:ext cx="20116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051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VL30 — Servers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1298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192.168.30.0/24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1691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GW: .1 (R3)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DNS: .10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0" y="914400"/>
            <a:ext cx="20116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0" y="914400"/>
            <a:ext cx="2011680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0" y="1051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VL40 — Wireless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49440" y="1298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192.168.40.0/24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49440" y="1691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GW (HSRP): .1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R1: .2 | R2: .3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651760"/>
            <a:ext cx="859536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 Link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74320" y="3017520"/>
            <a:ext cx="85953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017520"/>
            <a:ext cx="54864" cy="7772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063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 ↔ R3 (Simulated T1)</a:t>
            </a:r>
            <a:endParaRPr lang="en-US" sz="12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10.0.1.0/30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 G0/0/1: .1  |  R3 G0/1: .2  |  bandwidth 1544 (T1 sim)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" y="3977640"/>
            <a:ext cx="85953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977640"/>
            <a:ext cx="54864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Management: </a:t>
            </a:r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172.16.0.0/24</a:t>
            </a:r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R1: .1  |  R2: .2  |  R3: .3  |  SW-D: .11  |  SW-A: .12  |  AP: .20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4663440"/>
            <a:ext cx="54864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6908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 Serial Ports: </a:t>
            </a:r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S0/0/0 and S0/0/1 (HWIC-2T) available for dedicated serial WAN lab exercises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Roles &amp; Services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974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269748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972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HSRP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 + R2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Load-balanced: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 active VL10/40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 active VL20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914400"/>
            <a:ext cx="26974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914400"/>
            <a:ext cx="269748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0972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DHCP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3280" y="13716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 + SRV-1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6916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R1: VLANs 10/20/40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SRV-1: VLAN 30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Pools: .100-.199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914400"/>
            <a:ext cx="26974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914400"/>
            <a:ext cx="269748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0972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63640" y="13716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SRV-1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16916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192.168.30.10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pools point here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880360"/>
            <a:ext cx="26974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880360"/>
            <a:ext cx="2697480" cy="73152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0632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 (PAT)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2920" y="33375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36576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Overload on G0/0/0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internet access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46120" y="2880360"/>
            <a:ext cx="26974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2880360"/>
            <a:ext cx="2697480" cy="7315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0" y="30632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OSPF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383280" y="33375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R1, R2, R3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83280" y="36576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 = campus-branch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2880360"/>
            <a:ext cx="26974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880360"/>
            <a:ext cx="269748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30632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NTP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263640" y="33375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 (master)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63640" y="36576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Stratum 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devices sync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Simplified Reference — The Mental Model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 to Memorize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4114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3rd octet = VLAN ID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VL10→10.x | VL20→20.x | VL30→30.x | VL40→40.x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HSRP virtual gateway = .1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router = .2, Standby = .3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Load-balanced HSRP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 active for VL10/40, R2 active for VL20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 link = /30 mask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2 usable IPs (one per router end)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3-Tier: Core → Dist → Access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at core, trunk at dist, assign VLANs at access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46320" y="868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Reference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234440"/>
          <a:ext cx="39319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011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Subnet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Students (VL10)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192.168.10.0/24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Faculty (VL20)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192.168.20.0/24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Servers (VL30)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192.168.30.0/24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Wireless (VL40)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192.168.40.0/24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WAN R2↔R3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10.0.1.0/30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Management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172.16.0.0/24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846320" y="324612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46320" y="3246120"/>
            <a:ext cx="73152" cy="1645920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0" y="333756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 Order: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Ping own IP (NIC/stack)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Ping HSRP virtual GW (.1)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Ping DNS (192.168.30.10)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Ping public IP (8.8.8.8)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nslookup google.com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ITN 101 Reference Network - 3-Tier + HSRP</dc:title>
  <dc:subject>PptxGenJS Presentation</dc:subject>
  <dc:creator>Benjamin Lamb</dc:creator>
  <cp:lastModifiedBy>Benjamin Lamb</cp:lastModifiedBy>
  <cp:revision>1</cp:revision>
  <dcterms:created xsi:type="dcterms:W3CDTF">2026-03-13T16:48:49Z</dcterms:created>
  <dcterms:modified xsi:type="dcterms:W3CDTF">2026-03-13T16:48:49Z</dcterms:modified>
</cp:coreProperties>
</file>